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5C1AE"/>
                </a:solidFill>
                <a:latin typeface="Segoe UI"/>
              </a:rPr>
              <a:t>ITALLIAN HAIRTECH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Segoe UI"/>
              </a:rPr>
              <a:t>Sis_Ped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CFE0D6"/>
                </a:solidFill>
                <a:latin typeface="Segoe UI"/>
              </a:rPr>
              <a:t>Sistema de Pedidos, Campanhas e Gestão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89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5C1AE"/>
                </a:solidFill>
                <a:latin typeface="Segoe UI"/>
              </a:rPr>
              <a:t>Apresentação de funcionalidades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FB6AB"/>
                </a:solidFill>
                <a:latin typeface="Segoe UI"/>
              </a:rPr>
              <a:t>Áreas do Cliente, Comercial e Financeiro · Multimoeda · Campanhas avançadas · Relatórios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PHP 7.4 + MySQL · Bootstrap 5.3 ·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Visão Geral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Plataforma web para todo o ciclo de pedidos — do cliente ao faturamento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Três áreas integradas:</a:t>
            </a:r>
            <a:r>
              <a:rPr sz="1400">
                <a:solidFill>
                  <a:srgbClr val="222A26"/>
                </a:solidFill>
                <a:latin typeface="Segoe UI"/>
              </a:rPr>
              <a:t>   Cliente (autoatendimento), Comercial/Supervisor e Financeiro.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Fluxo de aprovação:</a:t>
            </a:r>
            <a:r>
              <a:rPr sz="1400">
                <a:solidFill>
                  <a:srgbClr val="222A26"/>
                </a:solidFill>
                <a:latin typeface="Segoe UI"/>
              </a:rPr>
              <a:t>   Cliente cria → Comercial aprova → Financeiro fatura (ou retorna/reprova).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Campanhas avançadas:</a:t>
            </a:r>
            <a:r>
              <a:rPr sz="1400">
                <a:solidFill>
                  <a:srgbClr val="222A26"/>
                </a:solidFill>
                <a:latin typeface="Segoe UI"/>
              </a:rPr>
              <a:t>   Descontos e bonificações por condições combinadas (linha, grupo, subgrupo, produto).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Multimoeda:</a:t>
            </a:r>
            <a:r>
              <a:rPr sz="1400">
                <a:solidFill>
                  <a:srgbClr val="222A26"/>
                </a:solidFill>
                <a:latin typeface="Segoe UI"/>
              </a:rPr>
              <a:t>   Preços e pedidos em BRL, USD e EUR com câmbio de segurança.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Bônus e metas:</a:t>
            </a:r>
            <a:r>
              <a:rPr sz="1400">
                <a:solidFill>
                  <a:srgbClr val="222A26"/>
                </a:solidFill>
                <a:latin typeface="Segoe UI"/>
              </a:rPr>
              <a:t>   Bônus de desempenho, Material de Apoio e bônus de exportação.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Internacionalização:</a:t>
            </a:r>
            <a:r>
              <a:rPr sz="1400">
                <a:solidFill>
                  <a:srgbClr val="222A26"/>
                </a:solidFill>
                <a:latin typeface="Segoe UI"/>
              </a:rPr>
              <a:t>   Interface PT / EN / ES conforme o idioma do cliente.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Segurança:</a:t>
            </a:r>
            <a:r>
              <a:rPr sz="1400">
                <a:solidFill>
                  <a:srgbClr val="222A26"/>
                </a:solidFill>
                <a:latin typeface="Segoe UI"/>
              </a:rPr>
              <a:t>   Login unificado, 2FA por WhatsApp para acesso externo, perfis de acesso.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Experiência:</a:t>
            </a:r>
            <a:r>
              <a:rPr sz="1400">
                <a:solidFill>
                  <a:srgbClr val="222A26"/>
                </a:solidFill>
                <a:latin typeface="Segoe UI"/>
              </a:rPr>
              <a:t>   Layout responsivo, tema claro/escuro (dark mode) na área administrativa.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AUTENTICAÇÃO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Acesso e Segurança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Login unificado para clientes e equipe interna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200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Login único por e-mail e senha para clientes e usuários internos.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2FA por WhatsApp para usuários externos fora do IP autorizado.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Perfis: Cliente, Comercial, Supervisor e Financeiro.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Grupo de empresas: troca de CNPJ na mesma sessão.</a:t>
            </a:r>
          </a:p>
        </p:txBody>
      </p:sp>
      <p:pic>
        <p:nvPicPr>
          <p:cNvPr id="9" name="Picture 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45920"/>
            <a:ext cx="7507705" cy="475488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Área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Autoatendimento: criação e acompanhamento de pedidos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Catálogo com campanhas ativas, multimoeda e bônus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Financeiro do cliente (títulos e boletos)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Cliente ·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Resumo de pedidos, indicadores e atalhos</a:t>
            </a:r>
          </a:p>
        </p:txBody>
      </p:sp>
      <p:pic>
        <p:nvPicPr>
          <p:cNvPr id="8" name="Picture 7" descr="40_cl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Cliente · Novo Pedido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Catálogo por linhas, campanhas ativas e carrinho com preview de desconto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200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Painel de campanhas ativas com barras de progresso.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Preview de desconto/bonificação em tempo real (espelha o servidor).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Quantidades por múltiplo; preço conforme a moeda do cliente.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Bônus de Material de Apoio quando disponível.</a:t>
            </a:r>
          </a:p>
        </p:txBody>
      </p:sp>
      <p:pic>
        <p:nvPicPr>
          <p:cNvPr id="9" name="Picture 8" descr="41_cli_novo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45920"/>
            <a:ext cx="7507705" cy="475488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Cliente · Meus Pedidos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Histórico com status, valores e acesso ao detalhe/PDF</a:t>
            </a:r>
          </a:p>
        </p:txBody>
      </p:sp>
      <p:pic>
        <p:nvPicPr>
          <p:cNvPr id="8" name="Picture 7" descr="42_cli_meus_ped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Cliente · Detalhe do Pedido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Itens, campanhas atingidas, descontos e status de aprovação</a:t>
            </a:r>
          </a:p>
        </p:txBody>
      </p:sp>
      <p:pic>
        <p:nvPicPr>
          <p:cNvPr id="8" name="Picture 7" descr="43_cli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Cliente · Financeiro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Títulos a receber, vencimentos e situação (aberto/pago/vencido)</a:t>
            </a:r>
          </a:p>
        </p:txBody>
      </p:sp>
      <p:pic>
        <p:nvPicPr>
          <p:cNvPr id="8" name="Picture 7" descr="44_cli_financei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Área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Gestão e aprovação de pedidos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Cadastros (produtos, clientes, campanhas, preços, metas)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Relatórios de faturamento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Comercial ·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Totais por etapa (comercial, financeiro, faturamento) e últimos pedidos</a:t>
            </a:r>
          </a:p>
        </p:txBody>
      </p:sp>
      <p:pic>
        <p:nvPicPr>
          <p:cNvPr id="8" name="Picture 7" descr="10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Comercial · Pedidos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Lista geral com filtros por status e agrupamento por lote</a:t>
            </a:r>
          </a:p>
        </p:txBody>
      </p:sp>
      <p:pic>
        <p:nvPicPr>
          <p:cNvPr id="8" name="Picture 7" descr="11_admin_pedi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Comercial · Novo Pedido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Criação de pedidos em nome do cliente, com campanhas e multimoeda</a:t>
            </a:r>
          </a:p>
        </p:txBody>
      </p:sp>
      <p:pic>
        <p:nvPicPr>
          <p:cNvPr id="8" name="Picture 7" descr="12_admin_novo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Comercial · Detalhe e Aprovação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Descontos, campanhas atingidas, detalhamento fiscal e ações de aprovação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200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Aprovar → Financeiro, retornar ou cancelar.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Edição de itens e quantidades com recálculo automático.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Campanhas atingidas e desconto aplicado por item.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Detalhamento fiscal (ICMS/IPI/PIS/COFINS) e PDF.</a:t>
            </a:r>
          </a:p>
        </p:txBody>
      </p:sp>
      <p:pic>
        <p:nvPicPr>
          <p:cNvPr id="9" name="Picture 8" descr="13_admin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45920"/>
            <a:ext cx="7507705" cy="475488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Produtos, clientes e grupos de empresas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Tabela de preços multimoeda e canais de venda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Campanhas, metas e bônus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Produtos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Catálogo com linha/grupo/subgrupo, múltiplo, NCM e status</a:t>
            </a:r>
          </a:p>
        </p:txBody>
      </p:sp>
      <p:pic>
        <p:nvPicPr>
          <p:cNvPr id="8" name="Picture 7" descr="14_cad_prod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Dados cadastrais, canal, descontos, supervisor e idioma</a:t>
            </a:r>
          </a:p>
        </p:txBody>
      </p:sp>
      <p:pic>
        <p:nvPicPr>
          <p:cNvPr id="8" name="Picture 7" descr="15_cad_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Tabela de Preços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Preços por produto e por moeda (BRL / USD / EUR) e tabela Network</a:t>
            </a:r>
          </a:p>
        </p:txBody>
      </p:sp>
      <p:pic>
        <p:nvPicPr>
          <p:cNvPr id="8" name="Picture 7" descr="17_cad_tabela_pre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Canal de Venda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Canais (ex.: Distribuidor, Exportação) com regras e descontos</a:t>
            </a:r>
          </a:p>
        </p:txBody>
      </p:sp>
      <p:pic>
        <p:nvPicPr>
          <p:cNvPr id="8" name="Picture 7" descr="18_cad_c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Metas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Metas de faturamento usadas nos indicadores e bônus</a:t>
            </a:r>
          </a:p>
        </p:txBody>
      </p:sp>
      <p:pic>
        <p:nvPicPr>
          <p:cNvPr id="8" name="Picture 7" descr="19_cad_m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CADASTROS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Bônus de Desempenho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Faixas de bonificação por desempenho/faturamento</a:t>
            </a:r>
          </a:p>
        </p:txBody>
      </p:sp>
      <p:pic>
        <p:nvPicPr>
          <p:cNvPr id="8" name="Picture 7" descr="20_cad_bo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ADMINISTRAÇÃO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Administração · Usuários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Usuários internos, perfis de acesso e tipo (Interno/Externo)</a:t>
            </a:r>
          </a:p>
        </p:txBody>
      </p:sp>
      <p:pic>
        <p:nvPicPr>
          <p:cNvPr id="8" name="Picture 7" descr="22_cad_usu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Campanhas Avançadas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Condições combinadas (E) por linha, grupo, subgrupo e produto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Gatilho por quantidade OU valor mínimo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Desconto ou bonificação (fixa / selecionável)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CAMPANHAS AVANÇADAS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Cadastro · Campanhas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Cadastro guiado com condições compostas, alvos e recompensa</a:t>
            </a:r>
          </a:p>
        </p:txBody>
      </p:sp>
      <p:pic>
        <p:nvPicPr>
          <p:cNvPr id="8" name="Picture 7" descr="16_cad_campanh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CAMPANHAS AVANÇADAS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Modelo de Campanhas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Como as campanhas são configuradas e avaliadas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Status:</a:t>
            </a:r>
            <a:r>
              <a:rPr sz="1400">
                <a:solidFill>
                  <a:srgbClr val="222A26"/>
                </a:solidFill>
                <a:latin typeface="Segoe UI"/>
              </a:rPr>
              <a:t>   campanha Ativa/Inativa; só ativas participam da avaliação.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Condições compostas (E):</a:t>
            </a:r>
            <a:r>
              <a:rPr sz="1400">
                <a:solidFill>
                  <a:srgbClr val="222A26"/>
                </a:solidFill>
                <a:latin typeface="Segoe UI"/>
              </a:rPr>
              <a:t>   cada condição combina Linha + Grupo + Subgrupo + Produto.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Exemplo:</a:t>
            </a:r>
            <a:r>
              <a:rPr sz="1400">
                <a:solidFill>
                  <a:srgbClr val="222A26"/>
                </a:solidFill>
                <a:latin typeface="Segoe UI"/>
              </a:rPr>
              <a:t>   “Linha Itallian Color · Grupo Coloração ≥ 360 un.” E “… · Grupo Oxidante ≥ 90 un.”.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Mínimo por quantidade OU valor:</a:t>
            </a:r>
            <a:r>
              <a:rPr sz="1400">
                <a:solidFill>
                  <a:srgbClr val="222A26"/>
                </a:solidFill>
                <a:latin typeface="Segoe UI"/>
              </a:rPr>
              <a:t>   cada condição escolhe o tipo de gatilho.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Desconto:</a:t>
            </a:r>
            <a:r>
              <a:rPr sz="1400">
                <a:solidFill>
                  <a:srgbClr val="222A26"/>
                </a:solidFill>
                <a:latin typeface="Segoe UI"/>
              </a:rPr>
              <a:t>   percentual aplicado nos itens-alvo (ou nos itens do gatilho).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Bonificação fixa:</a:t>
            </a:r>
            <a:r>
              <a:rPr sz="1400">
                <a:solidFill>
                  <a:srgbClr val="222A26"/>
                </a:solidFill>
                <a:latin typeface="Segoe UI"/>
              </a:rPr>
              <a:t>   gera pedido de brinde automaticamente, multiplicado pelo gatilho.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Bonificação selecionável:</a:t>
            </a:r>
            <a:r>
              <a:rPr sz="1400">
                <a:solidFill>
                  <a:srgbClr val="222A26"/>
                </a:solidFill>
                <a:latin typeface="Segoe UI"/>
              </a:rPr>
              <a:t>   cliente escolhe os brindes de uma lista ou de um pool por categoria.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Preview ao vivo:</a:t>
            </a:r>
            <a:r>
              <a:rPr sz="1400">
                <a:solidFill>
                  <a:srgbClr val="222A26"/>
                </a:solidFill>
                <a:latin typeface="Segoe UI"/>
              </a:rPr>
              <a:t>   cliente e comercial veem o resultado antes de confirmar (PHP é a fonte de verdade).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Relatórios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Faturamento diário, mensal, anual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Por cliente, canal, supervisor, estado e região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Status dos pedidos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RELATÓRIOS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Relatórios · Faturamento Mensal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Acompanhamento de faturamento com filtros e comparativos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200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Faturamento diário / mensal / anual.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Por cliente, canal, supervisor, estado e região.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Status dos pedidos (funil de aprovação).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A26"/>
                </a:solidFill>
                <a:latin typeface="Segoe UI"/>
              </a:rPr>
              <a:t>Valores consolidados em BRL (conversão por câmbio).</a:t>
            </a:r>
          </a:p>
        </p:txBody>
      </p:sp>
      <p:pic>
        <p:nvPicPr>
          <p:cNvPr id="9" name="Picture 8" descr="21_rel_fat_men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45920"/>
            <a:ext cx="7507705" cy="475488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Área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Contas a receber e a pagar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Ordens de pagamento e de investimento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Fornecedores e clientes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Financeiro · Contas a Receber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Títulos, vencimentos, baixas e situação</a:t>
            </a:r>
          </a:p>
        </p:txBody>
      </p:sp>
      <p:pic>
        <p:nvPicPr>
          <p:cNvPr id="8" name="Picture 7" descr="30_fin_rece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Financeiro · Contas a Pagar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Compromissos, fornecedores e controle de pagamentos</a:t>
            </a:r>
          </a:p>
        </p:txBody>
      </p:sp>
      <p:pic>
        <p:nvPicPr>
          <p:cNvPr id="8" name="Picture 7" descr="31_fin_pa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ÁREA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Financeiro · Ordens de Pagamento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Emissão e acompanhamento de ordens de pagamento</a:t>
            </a:r>
          </a:p>
        </p:txBody>
      </p:sp>
      <p:pic>
        <p:nvPicPr>
          <p:cNvPr id="8" name="Picture 7" descr="32_fin_ord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5C1AE"/>
                </a:solidFill>
                <a:latin typeface="Segoe UI"/>
              </a:rPr>
              <a:t>MÓDULO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Recursos Transversais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Multimoeda · Internacionalização · Bônus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5C1AE"/>
                </a:solidFill>
                <a:latin typeface="Segoe UI"/>
              </a:rPr>
              <a:t>Grupo de empresas · 2FA · Tema escuro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RECURSOS TRANSVERSAIS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Recursos que Atravessam 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Funcionalidades presentes em várias áreas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Multimoeda (BRL/USD/EUR):</a:t>
            </a:r>
            <a:r>
              <a:rPr sz="1400">
                <a:solidFill>
                  <a:srgbClr val="222A26"/>
                </a:solidFill>
                <a:latin typeface="Segoe UI"/>
              </a:rPr>
              <a:t>   seleção de preço por moeda e câmbio de segurança nas conversões.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Internacionalização (PT/EN/ES):</a:t>
            </a:r>
            <a:r>
              <a:rPr sz="1400">
                <a:solidFill>
                  <a:srgbClr val="222A26"/>
                </a:solidFill>
                <a:latin typeface="Segoe UI"/>
              </a:rPr>
              <a:t>   interface traduzida conforme o idioma do cliente.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Bônus de Material de Apoio:</a:t>
            </a:r>
            <a:r>
              <a:rPr sz="1400">
                <a:solidFill>
                  <a:srgbClr val="222A26"/>
                </a:solidFill>
                <a:latin typeface="Segoe UI"/>
              </a:rPr>
              <a:t>   saldo calculado sobre o faturamento, resgatável em pedidos.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Bônus de Exportação:</a:t>
            </a:r>
            <a:r>
              <a:rPr sz="1400">
                <a:solidFill>
                  <a:srgbClr val="222A26"/>
                </a:solidFill>
                <a:latin typeface="Segoe UI"/>
              </a:rPr>
              <a:t>   5% do valor da venda em brinde selecionável no canal Exportação.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Grupo de empresas:</a:t>
            </a:r>
            <a:r>
              <a:rPr sz="1400">
                <a:solidFill>
                  <a:srgbClr val="222A26"/>
                </a:solidFill>
                <a:latin typeface="Segoe UI"/>
              </a:rPr>
              <a:t>   um login acessa vários CNPJs, com troca de empresa na sessão.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Segurança 2FA:</a:t>
            </a:r>
            <a:r>
              <a:rPr sz="1400">
                <a:solidFill>
                  <a:srgbClr val="222A26"/>
                </a:solidFill>
                <a:latin typeface="Segoe UI"/>
              </a:rPr>
              <a:t>   verificação por WhatsApp para acessos externos fora do IP liberado.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Tema claro/escuro:</a:t>
            </a:r>
            <a:r>
              <a:rPr sz="1400">
                <a:solidFill>
                  <a:srgbClr val="222A26"/>
                </a:solidFill>
                <a:latin typeface="Segoe UI"/>
              </a:rPr>
              <a:t>   dark mode persistente na área administrativa.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B6A4D"/>
                </a:solidFill>
                <a:latin typeface="Segoe UI"/>
              </a:rPr>
              <a:t>●  Auto-migração do banco:</a:t>
            </a:r>
            <a:r>
              <a:rPr sz="1400">
                <a:solidFill>
                  <a:srgbClr val="222A26"/>
                </a:solidFill>
                <a:latin typeface="Segoe UI"/>
              </a:rPr>
              <a:t>   o schema evolui automaticamente a cada atualização.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5C1AE"/>
                </a:solidFill>
                <a:latin typeface="Segoe UI"/>
              </a:rPr>
              <a:t>RECURSOS TRANSVERSAIS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Tema Escuro (Dark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Alternância de tema na área administrativa, com preferência persistida</a:t>
            </a:r>
          </a:p>
        </p:txBody>
      </p:sp>
      <p:pic>
        <p:nvPicPr>
          <p:cNvPr id="8" name="Picture 7" descr="23_admin_dashboar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32" y="1417320"/>
            <a:ext cx="8013031" cy="5074920"/>
          </a:xfrm>
          <a:prstGeom prst="rect">
            <a:avLst/>
          </a:prstGeom>
          <a:ln w="12700">
            <a:solidFill>
              <a:srgbClr val="D6DCD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63"/>
                </a:solidFill>
                <a:latin typeface="Segoe UI"/>
              </a:rPr>
              <a:t>Sis_Ped — Itallian Hairtech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822960" cy="73152"/>
          </a:xfrm>
          <a:prstGeom prst="rect">
            <a:avLst/>
          </a:prstGeom>
          <a:solidFill>
            <a:srgbClr val="568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A5C1AE"/>
                </a:solidFill>
                <a:latin typeface="Segoe UI"/>
              </a:rPr>
              <a:t>Sis_Ped — Sistema de Pedidos, Campanhas e Gestão Comercial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FB6AB"/>
                </a:solidFill>
                <a:latin typeface="Segoe UI"/>
              </a:rPr>
              <a:t>Itallian Hairtech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